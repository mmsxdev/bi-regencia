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2A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9CA3AF"/>
                </a:solidFill>
                <a:latin typeface="Inter"/>
              </a:rPr>
              <a:t>Complexo de Educação, Tecnologia, Inovação e Saúde Paulo Vargas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42032"/>
            <a:ext cx="10698480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5200" b="1">
                <a:solidFill>
                  <a:srgbClr val="F3F4F6"/>
                </a:solidFill>
                <a:latin typeface="Inter"/>
              </a:rPr>
              <a:t>BI DE REGÊNCIA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69848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2E90FA"/>
                </a:solidFill>
                <a:latin typeface="Inter"/>
              </a:rPr>
              <a:t>Regência dos instrutores em sala de aula — quadro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023360"/>
            <a:ext cx="4023360" cy="4114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343400"/>
            <a:ext cx="1069848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9CA3AF"/>
                </a:solidFill>
                <a:latin typeface="Inter"/>
              </a:rPr>
              <a:t>Departamento Regional de Goiás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00600"/>
            <a:ext cx="106984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Inter"/>
              </a:rPr>
              <a:t>Relatório de dados consolidados da planilha de regência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960120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9264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3F4F6"/>
                </a:solidFill>
                <a:latin typeface="Inter"/>
              </a:rPr>
              <a:t>O que este painel entrega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A3AF"/>
                </a:solidFill>
                <a:latin typeface="Inter"/>
              </a:rPr>
              <a:t>Objetivo e proposito do 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292608"/>
            <a:ext cx="137160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1">
                <a:solidFill>
                  <a:srgbClr val="D71920"/>
                </a:solidFill>
                <a:latin typeface="Inter"/>
              </a:rPr>
              <a:t>SENAI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155680" cy="2926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1">
                <a:solidFill>
                  <a:srgbClr val="D71920"/>
                </a:solidFill>
                <a:latin typeface="Inter"/>
              </a:rPr>
              <a:t>•  </a:t>
            </a:r>
            <a:r>
              <a:rPr sz="1700" b="0">
                <a:solidFill>
                  <a:srgbClr val="F3F4F6"/>
                </a:solidFill>
                <a:latin typeface="Inter"/>
              </a:rPr>
              <a:t>Consolidar as horas-aula (regência) de todos os instrutores do quadro em um só painel.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D71920"/>
                </a:solidFill>
                <a:latin typeface="Inter"/>
              </a:rPr>
              <a:t>•  </a:t>
            </a:r>
            <a:r>
              <a:rPr sz="1700" b="0">
                <a:solidFill>
                  <a:srgbClr val="F3F4F6"/>
                </a:solidFill>
                <a:latin typeface="Inter"/>
              </a:rPr>
              <a:t>Responder 4 perguntas de gestão: quem ministra? quanto? cumpre a carga prevista? onde está o risco?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D71920"/>
                </a:solidFill>
                <a:latin typeface="Inter"/>
              </a:rPr>
              <a:t>•  </a:t>
            </a:r>
            <a:r>
              <a:rPr sz="1700" b="0">
                <a:solidFill>
                  <a:srgbClr val="F3F4F6"/>
                </a:solidFill>
                <a:latin typeface="Inter"/>
              </a:rPr>
              <a:t>Transformar a planilha de lançamentos, que já existe, em informação de gestão.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D71920"/>
                </a:solidFill>
                <a:latin typeface="Inter"/>
              </a:rPr>
              <a:t>•  </a:t>
            </a:r>
            <a:r>
              <a:rPr sz="1700" b="0">
                <a:solidFill>
                  <a:srgbClr val="F3F4F6"/>
                </a:solidFill>
                <a:latin typeface="Inter"/>
              </a:rPr>
              <a:t>Ficar sempre atualizado: conexão com a planilha no SharePoint/OneDrive + botão de atualização manual.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160520"/>
            <a:ext cx="11155680" cy="41148"/>
          </a:xfrm>
          <a:prstGeom prst="rect">
            <a:avLst/>
          </a:prstGeom>
          <a:solidFill>
            <a:srgbClr val="2A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389120"/>
            <a:ext cx="111556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3F4F6"/>
                </a:solidFill>
                <a:latin typeface="Inter"/>
              </a:rPr>
              <a:t>Conceito-chave — Regência: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92040"/>
            <a:ext cx="1115568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D71920"/>
                </a:solidFill>
                <a:latin typeface="Inter"/>
              </a:rPr>
              <a:t>•  </a:t>
            </a:r>
            <a:r>
              <a:rPr sz="1500" b="0">
                <a:solidFill>
                  <a:srgbClr val="F3F4F6"/>
                </a:solidFill>
                <a:latin typeface="Inter"/>
              </a:rPr>
              <a:t>Regência (%) = horas-aula realizadas ÷ carga de regência esperada no mês.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D71920"/>
                </a:solidFill>
                <a:latin typeface="Inter"/>
              </a:rPr>
              <a:t>•  </a:t>
            </a:r>
            <a:r>
              <a:rPr sz="1500" b="0">
                <a:solidFill>
                  <a:srgbClr val="F3F4F6"/>
                </a:solidFill>
                <a:latin typeface="Inter"/>
              </a:rPr>
              <a:t>100% = cumprida a carga. Acima de 100% = ministrou acima do previsto. Abaixo de 50% = alerta.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960120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9264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3F4F6"/>
                </a:solidFill>
                <a:latin typeface="Inter"/>
              </a:rPr>
              <a:t>Fonte dos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A3AF"/>
                </a:solidFill>
                <a:latin typeface="Inter"/>
              </a:rPr>
              <a:t>De onde vem a informação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292608"/>
            <a:ext cx="137160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1">
                <a:solidFill>
                  <a:srgbClr val="D71920"/>
                </a:solidFill>
                <a:latin typeface="Inter"/>
              </a:rPr>
              <a:t>SENAI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155680" cy="2743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D71920"/>
                </a:solidFill>
                <a:latin typeface="Inter"/>
              </a:rPr>
              <a:t>•  </a:t>
            </a:r>
            <a:r>
              <a:rPr sz="1600" b="0">
                <a:solidFill>
                  <a:srgbClr val="F3F4F6"/>
                </a:solidFill>
                <a:latin typeface="Inter"/>
              </a:rPr>
              <a:t>Aba "CONSOLIDADO " da planilha REGÊNCIA - INSTRUTORES DO QUADRO 2026.xlsx.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D71920"/>
                </a:solidFill>
                <a:latin typeface="Inter"/>
              </a:rPr>
              <a:t>•  </a:t>
            </a:r>
            <a:r>
              <a:rPr sz="1600" b="0">
                <a:solidFill>
                  <a:srgbClr val="F3F4F6"/>
                </a:solidFill>
                <a:latin typeface="Inter"/>
              </a:rPr>
              <a:t>1 linha por instrutor com: DOCENTE, carga horária (Ch), ÁREA, H/AULA e % por mês, ANO, EXTRA-QUADRO.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D71920"/>
                </a:solidFill>
                <a:latin typeface="Inter"/>
              </a:rPr>
              <a:t>•  </a:t>
            </a:r>
            <a:r>
              <a:rPr sz="1600" b="0">
                <a:solidFill>
                  <a:srgbClr val="F3F4F6"/>
                </a:solidFill>
                <a:latin typeface="Inter"/>
              </a:rPr>
              <a:t>O painel lê a planilha automaticamente e organiza em: Visão Geral, Por Instrutor, Por Mês e Tabela.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D71920"/>
                </a:solidFill>
                <a:latin typeface="Inter"/>
              </a:rPr>
              <a:t>•  </a:t>
            </a:r>
            <a:r>
              <a:rPr sz="1600" b="0">
                <a:solidFill>
                  <a:srgbClr val="F3F4F6"/>
                </a:solidFill>
                <a:latin typeface="Inter"/>
              </a:rPr>
              <a:t>Atualização automática a cada 10 minutos + botão "Atualizar dados agora".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246120"/>
            <a:ext cx="11155680" cy="41148"/>
          </a:xfrm>
          <a:prstGeom prst="rect">
            <a:avLst/>
          </a:prstGeom>
          <a:solidFill>
            <a:srgbClr val="2A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474720"/>
            <a:ext cx="111556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3F4F6"/>
                </a:solidFill>
                <a:latin typeface="Inter"/>
              </a:rPr>
              <a:t>Atenção na leitura: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931920"/>
            <a:ext cx="11155680" cy="21945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>
                <a:solidFill>
                  <a:srgbClr val="D71920"/>
                </a:solidFill>
                <a:latin typeface="Inter"/>
              </a:rPr>
              <a:t>•  </a:t>
            </a:r>
            <a:r>
              <a:rPr sz="1500" b="0">
                <a:solidFill>
                  <a:srgbClr val="F3F4F6"/>
                </a:solidFill>
                <a:latin typeface="Inter"/>
              </a:rPr>
              <a:t>O n.º de instrutores com lançamento cresce ao longo do ano (37 em jan → 45 em ago): entradas em 2026.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D71920"/>
                </a:solidFill>
                <a:latin typeface="Inter"/>
              </a:rPr>
              <a:t>•  </a:t>
            </a:r>
            <a:r>
              <a:rPr sz="1500" b="0">
                <a:solidFill>
                  <a:srgbClr val="F3F4F6"/>
                </a:solidFill>
                <a:latin typeface="Inter"/>
              </a:rPr>
              <a:t>Existem dois totais no painel: soma dos meses (37.306 h) e coluna ANO (36.458 h) — conferir padrão na planilha.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960120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9264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3F4F6"/>
                </a:solidFill>
                <a:latin typeface="Inter"/>
              </a:rPr>
              <a:t>Números-chave do quadro (2026)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A3AF"/>
                </a:solidFill>
                <a:latin typeface="Inter"/>
              </a:rPr>
              <a:t>Visão consolidada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292608"/>
            <a:ext cx="137160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1">
                <a:solidFill>
                  <a:srgbClr val="D71920"/>
                </a:solidFill>
                <a:latin typeface="Inter"/>
              </a:rPr>
              <a:t>SENAI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2651760" cy="2103120"/>
          </a:xfrm>
          <a:prstGeom prst="rect">
            <a:avLst/>
          </a:prstGeom>
          <a:solidFill>
            <a:srgbClr val="111827"/>
          </a:solidFill>
          <a:ln w="12700">
            <a:solidFill>
              <a:srgbClr val="2A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2651760" cy="6400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27632"/>
            <a:ext cx="2194560" cy="8229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3F4F6"/>
                </a:solidFill>
                <a:latin typeface="Inter"/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21945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CA3AF"/>
                </a:solidFill>
                <a:latin typeface="Inter"/>
              </a:rPr>
              <a:t>INSTRUTORES NO QUADRO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70048"/>
            <a:ext cx="219456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Inter"/>
              </a:rPr>
              <a:t>Cobertura completa desde agosto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371600"/>
            <a:ext cx="2651760" cy="2103120"/>
          </a:xfrm>
          <a:prstGeom prst="rect">
            <a:avLst/>
          </a:prstGeom>
          <a:solidFill>
            <a:srgbClr val="111827"/>
          </a:solidFill>
          <a:ln w="12700">
            <a:solidFill>
              <a:srgbClr val="2A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371600"/>
            <a:ext cx="2651760" cy="6400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1627632"/>
            <a:ext cx="2194560" cy="8229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3F4F6"/>
                </a:solidFill>
                <a:latin typeface="Inter"/>
              </a:rPr>
              <a:t>61%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84448" y="1792224"/>
            <a:ext cx="164592" cy="164592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2331720"/>
            <a:ext cx="21945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CA3AF"/>
                </a:solidFill>
                <a:latin typeface="Inter"/>
              </a:rPr>
              <a:t>REGÊNCIA MÉDIA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670048"/>
            <a:ext cx="219456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Inter"/>
              </a:rPr>
              <a:t>média das regências mensais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371600"/>
            <a:ext cx="2651760" cy="2103120"/>
          </a:xfrm>
          <a:prstGeom prst="rect">
            <a:avLst/>
          </a:prstGeom>
          <a:solidFill>
            <a:srgbClr val="111827"/>
          </a:solidFill>
          <a:ln w="12700">
            <a:solidFill>
              <a:srgbClr val="2A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371600"/>
            <a:ext cx="2651760" cy="6400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627632"/>
            <a:ext cx="2194560" cy="8229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3F4F6"/>
                </a:solidFill>
                <a:latin typeface="Inter"/>
              </a:rPr>
              <a:t>37,3 mil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331720"/>
            <a:ext cx="21945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CA3AF"/>
                </a:solidFill>
                <a:latin typeface="Inter"/>
              </a:rPr>
              <a:t>HORAS-AULA REALIZADAS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670048"/>
            <a:ext cx="219456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Inter"/>
              </a:rPr>
              <a:t>soma dos 12 meses do período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6840" y="1371600"/>
            <a:ext cx="2651760" cy="2103120"/>
          </a:xfrm>
          <a:prstGeom prst="rect">
            <a:avLst/>
          </a:prstGeom>
          <a:solidFill>
            <a:srgbClr val="111827"/>
          </a:solidFill>
          <a:ln w="12700">
            <a:solidFill>
              <a:srgbClr val="2A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06840" y="1371600"/>
            <a:ext cx="2651760" cy="6400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1627632"/>
            <a:ext cx="2194560" cy="8229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3F4F6"/>
                </a:solidFill>
                <a:latin typeface="Inter"/>
              </a:rPr>
              <a:t>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53728" y="1792224"/>
            <a:ext cx="164592" cy="164592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2331720"/>
            <a:ext cx="21945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CA3AF"/>
                </a:solidFill>
                <a:latin typeface="Inter"/>
              </a:rPr>
              <a:t>ABAIXO DE 50%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670048"/>
            <a:ext cx="219456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Inter"/>
              </a:rPr>
              <a:t>27% do quadro em zona de alerta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840480"/>
            <a:ext cx="1115568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9CA3AF"/>
                </a:solidFill>
                <a:latin typeface="Inter"/>
              </a:rPr>
              <a:t>Leitura: a média de 61% esconde realidades distintas — parte do quadro cumpre bem a carga, outra parte está em zona crítica.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617720"/>
            <a:ext cx="11155680" cy="1645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D71920"/>
                </a:solidFill>
                <a:latin typeface="Inter"/>
              </a:rPr>
              <a:t>•  </a:t>
            </a:r>
            <a:r>
              <a:rPr sz="1400" b="0">
                <a:solidFill>
                  <a:srgbClr val="F3F4F6"/>
                </a:solidFill>
                <a:latin typeface="Inter"/>
              </a:rPr>
              <a:t>16 instrutores entre 70% e 100% de regência.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D71920"/>
                </a:solidFill>
                <a:latin typeface="Inter"/>
              </a:rPr>
              <a:t>•  </a:t>
            </a:r>
            <a:r>
              <a:rPr sz="1400" b="0">
                <a:solidFill>
                  <a:srgbClr val="F3F4F6"/>
                </a:solidFill>
                <a:latin typeface="Inter"/>
              </a:rPr>
              <a:t>2 instrutores acima de 100% (ministram acima da carga prevista).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D71920"/>
                </a:solidFill>
                <a:latin typeface="Inter"/>
              </a:rPr>
              <a:t>•  </a:t>
            </a:r>
            <a:r>
              <a:rPr sz="1400" b="0">
                <a:solidFill>
                  <a:srgbClr val="F3F4F6"/>
                </a:solidFill>
                <a:latin typeface="Inter"/>
              </a:rPr>
              <a:t>15 instrutores entre 50% e 70% — área de atenção/monitoramento.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960120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9264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3F4F6"/>
                </a:solidFill>
                <a:latin typeface="Inter"/>
              </a:rPr>
              <a:t>Sazonalidade — regência por mês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A3AF"/>
                </a:solidFill>
                <a:latin typeface="Inter"/>
              </a:rPr>
              <a:t>Cair em julho não é risco, é calendário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292608"/>
            <a:ext cx="137160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1">
                <a:solidFill>
                  <a:srgbClr val="D71920"/>
                </a:solidFill>
                <a:latin typeface="Inter"/>
              </a:rPr>
              <a:t>SENAI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6675120" cy="3337560"/>
          </a:xfrm>
          <a:prstGeom prst="rect">
            <a:avLst/>
          </a:prstGeom>
          <a:noFill/>
          <a:ln w="12700">
            <a:solidFill>
              <a:srgbClr val="2A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es_frequencia_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6675120" cy="3337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06640" y="1371600"/>
            <a:ext cx="4297680" cy="45720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D71920"/>
                </a:solidFill>
                <a:latin typeface="Inter"/>
              </a:rPr>
              <a:t>•  </a:t>
            </a:r>
            <a:r>
              <a:rPr sz="1400" b="0">
                <a:solidFill>
                  <a:srgbClr val="F3F4F6"/>
                </a:solidFill>
                <a:latin typeface="Inter"/>
              </a:rPr>
              <a:t>Janeiro: 41% — início de ano / entrada de contratos.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D71920"/>
                </a:solidFill>
                <a:latin typeface="Inter"/>
              </a:rPr>
              <a:t>•  </a:t>
            </a:r>
            <a:r>
              <a:rPr sz="1400" b="0">
                <a:solidFill>
                  <a:srgbClr val="F3F4F6"/>
                </a:solidFill>
                <a:latin typeface="Inter"/>
              </a:rPr>
              <a:t>Julho: 18% — férias escolares (recesso).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D71920"/>
                </a:solidFill>
                <a:latin typeface="Inter"/>
              </a:rPr>
              <a:t>•  </a:t>
            </a:r>
            <a:r>
              <a:rPr sz="1400" b="0">
                <a:solidFill>
                  <a:srgbClr val="F3F4F6"/>
                </a:solidFill>
                <a:latin typeface="Inter"/>
              </a:rPr>
              <a:t>Dezembro: 37% — encerramento do ano.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D71920"/>
                </a:solidFill>
                <a:latin typeface="Inter"/>
              </a:rPr>
              <a:t>•  </a:t>
            </a:r>
            <a:r>
              <a:rPr sz="1400" b="0">
                <a:solidFill>
                  <a:srgbClr val="F3F4F6"/>
                </a:solidFill>
                <a:latin typeface="Inter"/>
              </a:rPr>
              <a:t>Março a Setembro: 78–82% — período produtivo.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D71920"/>
                </a:solidFill>
                <a:latin typeface="Inter"/>
              </a:rPr>
              <a:t>•  </a:t>
            </a:r>
            <a:r>
              <a:rPr sz="1400" b="1">
                <a:solidFill>
                  <a:srgbClr val="2E90FA"/>
                </a:solidFill>
                <a:latin typeface="Inter"/>
              </a:rPr>
              <a:t>Meta única anual seria injusta: usar metas por período.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960120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9264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3F4F6"/>
                </a:solidFill>
                <a:latin typeface="Inter"/>
              </a:rPr>
              <a:t>Volume de horas-aula por mês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A3AF"/>
                </a:solidFill>
                <a:latin typeface="Inter"/>
              </a:rPr>
              <a:t>Quando o quadro está mais 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292608"/>
            <a:ext cx="137160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1">
                <a:solidFill>
                  <a:srgbClr val="D71920"/>
                </a:solidFill>
                <a:latin typeface="Inter"/>
              </a:rPr>
              <a:t>SENAI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6675120" cy="3337560"/>
          </a:xfrm>
          <a:prstGeom prst="rect">
            <a:avLst/>
          </a:prstGeom>
          <a:noFill/>
          <a:ln w="12700">
            <a:solidFill>
              <a:srgbClr val="2A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es_hora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6675120" cy="3337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06640" y="1371600"/>
            <a:ext cx="4297680" cy="45720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D71920"/>
                </a:solidFill>
                <a:latin typeface="Inter"/>
              </a:rPr>
              <a:t>•  </a:t>
            </a:r>
            <a:r>
              <a:rPr sz="1400" b="0">
                <a:solidFill>
                  <a:srgbClr val="F3F4F6"/>
                </a:solidFill>
                <a:latin typeface="Inter"/>
              </a:rPr>
              <a:t>Pico: agosto (4.403 h) e setembro (4.291 h).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D71920"/>
                </a:solidFill>
                <a:latin typeface="Inter"/>
              </a:rPr>
              <a:t>•  </a:t>
            </a:r>
            <a:r>
              <a:rPr sz="1400" b="0">
                <a:solidFill>
                  <a:srgbClr val="F3F4F6"/>
                </a:solidFill>
                <a:latin typeface="Inter"/>
              </a:rPr>
              <a:t>Vale: julho (890 h), janeiro (1.757 h), dezembro (1.990 h).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D71920"/>
                </a:solidFill>
                <a:latin typeface="Inter"/>
              </a:rPr>
              <a:t>•  </a:t>
            </a:r>
            <a:r>
              <a:rPr sz="1400" b="0">
                <a:solidFill>
                  <a:srgbClr val="F3F4F6"/>
                </a:solidFill>
                <a:latin typeface="Inter"/>
              </a:rPr>
              <a:t>Total do ano: ~37.306 horas-aula.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D71920"/>
                </a:solidFill>
                <a:latin typeface="Inter"/>
              </a:rPr>
              <a:t>•  </a:t>
            </a:r>
            <a:r>
              <a:rPr sz="1400" b="0">
                <a:solidFill>
                  <a:srgbClr val="F3F4F6"/>
                </a:solidFill>
                <a:latin typeface="Inter"/>
              </a:rPr>
              <a:t>Essa curva orienta a alocação de carga e a necessidade de reforço do quadro.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960120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9264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3F4F6"/>
                </a:solidFill>
                <a:latin typeface="Inter"/>
              </a:rPr>
              <a:t>Distribuição da regência média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A3AF"/>
                </a:solidFill>
                <a:latin typeface="Inter"/>
              </a:rPr>
              <a:t>Onde o quadro se concentra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292608"/>
            <a:ext cx="137160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1">
                <a:solidFill>
                  <a:srgbClr val="D71920"/>
                </a:solidFill>
                <a:latin typeface="Inter"/>
              </a:rPr>
              <a:t>SENAI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6400800" cy="3982720"/>
          </a:xfrm>
          <a:prstGeom prst="rect">
            <a:avLst/>
          </a:prstGeom>
          <a:noFill/>
          <a:ln w="12700">
            <a:solidFill>
              <a:srgbClr val="2A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istribuicao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6400800" cy="3982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23760" y="1417320"/>
            <a:ext cx="4572000" cy="45720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100"/>
              </a:spcAft>
            </a:pPr>
            <a:r>
              <a:rPr sz="1400" b="1">
                <a:solidFill>
                  <a:srgbClr val="D71920"/>
                </a:solidFill>
                <a:latin typeface="Inter"/>
              </a:rPr>
              <a:t>•  </a:t>
            </a:r>
            <a:r>
              <a:rPr sz="1400" b="0">
                <a:solidFill>
                  <a:srgbClr val="F3F4F6"/>
                </a:solidFill>
                <a:latin typeface="Inter"/>
              </a:rPr>
              <a:t>12 instrutores abaixo de 50% (alerta).</a:t>
            </a:r>
          </a:p>
          <a:p>
            <a:pPr algn="l">
              <a:spcAft>
                <a:spcPts val="1100"/>
              </a:spcAft>
            </a:pPr>
            <a:r>
              <a:rPr sz="1400" b="1">
                <a:solidFill>
                  <a:srgbClr val="D71920"/>
                </a:solidFill>
                <a:latin typeface="Inter"/>
              </a:rPr>
              <a:t>•  </a:t>
            </a:r>
            <a:r>
              <a:rPr sz="1400" b="0">
                <a:solidFill>
                  <a:srgbClr val="F3F4F6"/>
                </a:solidFill>
                <a:latin typeface="Inter"/>
              </a:rPr>
              <a:t>15 entre 50% e 70% (monitorar).</a:t>
            </a:r>
          </a:p>
          <a:p>
            <a:pPr algn="l">
              <a:spcAft>
                <a:spcPts val="1100"/>
              </a:spcAft>
            </a:pPr>
            <a:r>
              <a:rPr sz="1400" b="1">
                <a:solidFill>
                  <a:srgbClr val="D71920"/>
                </a:solidFill>
                <a:latin typeface="Inter"/>
              </a:rPr>
              <a:t>•  </a:t>
            </a:r>
            <a:r>
              <a:rPr sz="1400" b="0">
                <a:solidFill>
                  <a:srgbClr val="F3F4F6"/>
                </a:solidFill>
                <a:latin typeface="Inter"/>
              </a:rPr>
              <a:t>16 entre 70% e 100% (saudável).</a:t>
            </a:r>
          </a:p>
          <a:p>
            <a:pPr algn="l">
              <a:spcAft>
                <a:spcPts val="1100"/>
              </a:spcAft>
            </a:pPr>
            <a:r>
              <a:rPr sz="1400" b="1">
                <a:solidFill>
                  <a:srgbClr val="D71920"/>
                </a:solidFill>
                <a:latin typeface="Inter"/>
              </a:rPr>
              <a:t>•  </a:t>
            </a:r>
            <a:r>
              <a:rPr sz="1400" b="0">
                <a:solidFill>
                  <a:srgbClr val="F3F4F6"/>
                </a:solidFill>
                <a:latin typeface="Inter"/>
              </a:rPr>
              <a:t>2 acima de 100% (referência de desempenho).</a:t>
            </a:r>
          </a:p>
          <a:p>
            <a:pPr algn="l">
              <a:spcAft>
                <a:spcPts val="1100"/>
              </a:spcAft>
            </a:pPr>
            <a:r>
              <a:rPr sz="1400" b="1">
                <a:solidFill>
                  <a:srgbClr val="D71920"/>
                </a:solidFill>
                <a:latin typeface="Inter"/>
              </a:rPr>
              <a:t>•  </a:t>
            </a:r>
            <a:r>
              <a:rPr sz="1400" b="1">
                <a:solidFill>
                  <a:srgbClr val="D71920"/>
                </a:solidFill>
                <a:latin typeface="Inter"/>
              </a:rPr>
              <a:t>27% do quadro cumpre menos da metade da carga prevista.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960120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9264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3F4F6"/>
                </a:solidFill>
                <a:latin typeface="Inter"/>
              </a:rPr>
              <a:t>Regência média por área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A3AF"/>
                </a:solidFill>
                <a:latin typeface="Inter"/>
              </a:rPr>
              <a:t>Risco é concentrado, não está espalhado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292608"/>
            <a:ext cx="137160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1">
                <a:solidFill>
                  <a:srgbClr val="D71920"/>
                </a:solidFill>
                <a:latin typeface="Inter"/>
              </a:rPr>
              <a:t>SENAI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6949440" cy="3790603"/>
          </a:xfrm>
          <a:prstGeom prst="rect">
            <a:avLst/>
          </a:prstGeom>
          <a:noFill/>
          <a:ln w="12700">
            <a:solidFill>
              <a:srgbClr val="2A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rea_freq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6949440" cy="379060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35240" y="1417320"/>
            <a:ext cx="4114800" cy="45720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D71920"/>
                </a:solidFill>
                <a:latin typeface="Inter"/>
              </a:rPr>
              <a:t>•  </a:t>
            </a:r>
            <a:r>
              <a:rPr sz="1400" b="0">
                <a:solidFill>
                  <a:srgbClr val="F3F4F6"/>
                </a:solidFill>
                <a:latin typeface="Inter"/>
              </a:rPr>
              <a:t>Gráfica editorial (11 instr.): 74,7%.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D71920"/>
                </a:solidFill>
                <a:latin typeface="Inter"/>
              </a:rPr>
              <a:t>•  </a:t>
            </a:r>
            <a:r>
              <a:rPr sz="1400" b="0">
                <a:solidFill>
                  <a:srgbClr val="F3F4F6"/>
                </a:solidFill>
                <a:latin typeface="Inter"/>
              </a:rPr>
              <a:t>Alimentos e bebidas (6 instr.): 73,0%.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D71920"/>
                </a:solidFill>
                <a:latin typeface="Inter"/>
              </a:rPr>
              <a:t>•  </a:t>
            </a:r>
            <a:r>
              <a:rPr sz="1400" b="0">
                <a:solidFill>
                  <a:srgbClr val="F3F4F6"/>
                </a:solidFill>
                <a:latin typeface="Inter"/>
              </a:rPr>
              <a:t>TI (5 instr.): 69,5%.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D71920"/>
                </a:solidFill>
                <a:latin typeface="Inter"/>
              </a:rPr>
              <a:t>•  </a:t>
            </a:r>
            <a:r>
              <a:rPr sz="1400" b="0">
                <a:solidFill>
                  <a:srgbClr val="F3F4F6"/>
                </a:solidFill>
                <a:latin typeface="Inter"/>
              </a:rPr>
              <a:t>Manutenção automotiva (13 instr.): ~46%.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D71920"/>
                </a:solidFill>
                <a:latin typeface="Inter"/>
              </a:rPr>
              <a:t>•  </a:t>
            </a:r>
            <a:r>
              <a:rPr sz="1400" b="0">
                <a:solidFill>
                  <a:srgbClr val="F3F4F6"/>
                </a:solidFill>
                <a:latin typeface="Inter"/>
              </a:rPr>
              <a:t>Administração (2 instr.): 44,1%.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D71920"/>
                </a:solidFill>
                <a:latin typeface="Inter"/>
              </a:rPr>
              <a:t>•  </a:t>
            </a:r>
            <a:r>
              <a:rPr sz="1400" b="1">
                <a:solidFill>
                  <a:srgbClr val="D71920"/>
                </a:solidFill>
                <a:latin typeface="Inter"/>
              </a:rPr>
              <a:t>Área crítica: Manutenção automotiva.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960120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9264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3F4F6"/>
                </a:solidFill>
                <a:latin typeface="Inter"/>
              </a:rPr>
              <a:t>Pontos de atenção — menores regências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A3AF"/>
                </a:solidFill>
                <a:latin typeface="Inter"/>
              </a:rPr>
              <a:t>Identificados por nome e área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292608"/>
            <a:ext cx="137160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1">
                <a:solidFill>
                  <a:srgbClr val="D71920"/>
                </a:solidFill>
                <a:latin typeface="Inter"/>
              </a:rPr>
              <a:t>SENAI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6949440" cy="3916957"/>
          </a:xfrm>
          <a:prstGeom prst="rect">
            <a:avLst/>
          </a:prstGeom>
          <a:noFill/>
          <a:ln w="12700">
            <a:solidFill>
              <a:srgbClr val="2A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nstrutores_men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6949440" cy="391695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35240" y="1417320"/>
            <a:ext cx="4114800" cy="45720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D71920"/>
                </a:solidFill>
                <a:latin typeface="Inter"/>
              </a:rPr>
              <a:t>•  </a:t>
            </a:r>
            <a:r>
              <a:rPr sz="1400" b="0">
                <a:solidFill>
                  <a:srgbClr val="F3F4F6"/>
                </a:solidFill>
                <a:latin typeface="Inter"/>
              </a:rPr>
              <a:t>Os 5 menores índices do quadro estão em Manutenção automotiva.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D71920"/>
                </a:solidFill>
                <a:latin typeface="Inter"/>
              </a:rPr>
              <a:t>•  </a:t>
            </a:r>
            <a:r>
              <a:rPr sz="1400" b="0">
                <a:solidFill>
                  <a:srgbClr val="F3F4F6"/>
                </a:solidFill>
                <a:latin typeface="Inter"/>
              </a:rPr>
              <a:t>DIOGO DE SOUZA PIMENTEL: 10,8% (207 h no ano).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D71920"/>
                </a:solidFill>
                <a:latin typeface="Inter"/>
              </a:rPr>
              <a:t>•  </a:t>
            </a:r>
            <a:r>
              <a:rPr sz="1400" b="0">
                <a:solidFill>
                  <a:srgbClr val="F3F4F6"/>
                </a:solidFill>
                <a:latin typeface="Inter"/>
              </a:rPr>
              <a:t>DINAIRON DA SILVA BORGES: 14,6% (280 h).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D71920"/>
                </a:solidFill>
                <a:latin typeface="Inter"/>
              </a:rPr>
              <a:t>•  </a:t>
            </a:r>
            <a:r>
              <a:rPr sz="1400" b="0">
                <a:solidFill>
                  <a:srgbClr val="F3F4F6"/>
                </a:solidFill>
                <a:latin typeface="Inter"/>
              </a:rPr>
              <a:t>CAIO CEZAR BRAZ E SILVA: 22,1% (383 h).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D71920"/>
                </a:solidFill>
                <a:latin typeface="Inter"/>
              </a:rPr>
              <a:t>•  </a:t>
            </a:r>
            <a:r>
              <a:rPr sz="1400" b="0">
                <a:solidFill>
                  <a:srgbClr val="F3F4F6"/>
                </a:solidFill>
                <a:latin typeface="Inter"/>
              </a:rPr>
              <a:t>Pergunta à coordenação: carga reduzida? afastamento? realocação?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D71920"/>
                </a:solidFill>
                <a:latin typeface="Inter"/>
              </a:rPr>
              <a:t>•  </a:t>
            </a:r>
            <a:r>
              <a:rPr sz="1400" b="1">
                <a:solidFill>
                  <a:srgbClr val="2E90FA"/>
                </a:solidFill>
                <a:latin typeface="Inter"/>
              </a:rPr>
              <a:t>O painel localiza quem e onde — a causa é decidida com a coordenação.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960120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9264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3F4F6"/>
                </a:solidFill>
                <a:latin typeface="Inter"/>
              </a:rPr>
              <a:t>Manutenção automotiva — área única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A3AF"/>
                </a:solidFill>
                <a:latin typeface="Inter"/>
              </a:rPr>
              <a:t>O painel unifica; o polo vira filtro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292608"/>
            <a:ext cx="137160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1">
                <a:solidFill>
                  <a:srgbClr val="D71920"/>
                </a:solidFill>
                <a:latin typeface="Inter"/>
              </a:rPr>
              <a:t>SENAI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6766560" cy="4182964"/>
          </a:xfrm>
          <a:prstGeom prst="rect">
            <a:avLst/>
          </a:prstGeom>
          <a:noFill/>
          <a:ln w="12700">
            <a:solidFill>
              <a:srgbClr val="2A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utomotiva_po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6766560" cy="41829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52360" y="1325880"/>
            <a:ext cx="4297680" cy="4937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>
                <a:solidFill>
                  <a:srgbClr val="D71920"/>
                </a:solidFill>
                <a:latin typeface="Inter"/>
              </a:rPr>
              <a:t>•  </a:t>
            </a:r>
            <a:r>
              <a:rPr sz="1300" b="0">
                <a:solidFill>
                  <a:srgbClr val="F3F4F6"/>
                </a:solidFill>
                <a:latin typeface="Inter"/>
              </a:rPr>
              <a:t>As "Manutenção automotiva" e "(JD)" foram unificadas em UMA área: 13 instrutores.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D71920"/>
                </a:solidFill>
                <a:latin typeface="Inter"/>
              </a:rPr>
              <a:t>•  </a:t>
            </a:r>
            <a:r>
              <a:rPr sz="1300" b="0">
                <a:solidFill>
                  <a:srgbClr val="F3F4F6"/>
                </a:solidFill>
                <a:latin typeface="Inter"/>
              </a:rPr>
              <a:t>(JD) = polo do treinamento John Deere (mesma área, em outro local).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D71920"/>
                </a:solidFill>
                <a:latin typeface="Inter"/>
              </a:rPr>
              <a:t>•  </a:t>
            </a:r>
            <a:r>
              <a:rPr sz="1300" b="0">
                <a:solidFill>
                  <a:srgbClr val="F3F4F6"/>
                </a:solidFill>
                <a:latin typeface="Inter"/>
              </a:rPr>
              <a:t>Regência média da área: ~46% — 7 de 13 abaixo de 50%.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D71920"/>
                </a:solidFill>
                <a:latin typeface="Inter"/>
              </a:rPr>
              <a:t>•  </a:t>
            </a:r>
            <a:r>
              <a:rPr sz="1300" b="1">
                <a:solidFill>
                  <a:srgbClr val="2E90FA"/>
                </a:solidFill>
                <a:latin typeface="Inter"/>
              </a:rPr>
              <a:t>Novo filtro POLO/LOCAL: separa Complexo de Educação, Tecnologia, Inovação e Saúde Paulo Vargas × John Deere sem fragmentar a área.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D71920"/>
                </a:solidFill>
                <a:latin typeface="Inter"/>
              </a:rPr>
              <a:t>•  </a:t>
            </a:r>
            <a:r>
              <a:rPr sz="1300" b="0">
                <a:solidFill>
                  <a:srgbClr val="F3F4F6"/>
                </a:solidFill>
                <a:latin typeface="Inter"/>
              </a:rPr>
              <a:t>O painel lê a coluna POLO/LOCAL da planilha, se existir; senão, infere pelo rótulo antigo.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D71920"/>
                </a:solidFill>
                <a:latin typeface="Inter"/>
              </a:rPr>
              <a:t>•  </a:t>
            </a:r>
            <a:r>
              <a:rPr sz="1300" b="0">
                <a:solidFill>
                  <a:srgbClr val="F3F4F6"/>
                </a:solidFill>
                <a:latin typeface="Inter"/>
              </a:rPr>
              <a:t>Recomendação: preencher POLO/LOCAL para todos os instrutores na planilha-fonte.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960120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9264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3F4F6"/>
                </a:solidFill>
                <a:latin typeface="Inter"/>
              </a:rPr>
              <a:t>Destaques do quadro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A3AF"/>
                </a:solidFill>
                <a:latin typeface="Inter"/>
              </a:rPr>
              <a:t>Referências internas de alta regência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292608"/>
            <a:ext cx="137160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1">
                <a:solidFill>
                  <a:srgbClr val="D71920"/>
                </a:solidFill>
                <a:latin typeface="Inter"/>
              </a:rPr>
              <a:t>SENAI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6949440" cy="3916957"/>
          </a:xfrm>
          <a:prstGeom prst="rect">
            <a:avLst/>
          </a:prstGeom>
          <a:noFill/>
          <a:ln w="12700">
            <a:solidFill>
              <a:srgbClr val="2A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nstrutores_ma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6949440" cy="391695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35240" y="1417320"/>
            <a:ext cx="4114800" cy="45720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D71920"/>
                </a:solidFill>
                <a:latin typeface="Inter"/>
              </a:rPr>
              <a:t>•  </a:t>
            </a:r>
            <a:r>
              <a:rPr sz="1400" b="0">
                <a:solidFill>
                  <a:srgbClr val="F3F4F6"/>
                </a:solidFill>
                <a:latin typeface="Inter"/>
              </a:rPr>
              <a:t>ROMULO FLORIANO LIMEIRA: 109,5% — maior regência (1.314 h).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D71920"/>
                </a:solidFill>
                <a:latin typeface="Inter"/>
              </a:rPr>
              <a:t>•  </a:t>
            </a:r>
            <a:r>
              <a:rPr sz="1400" b="0">
                <a:solidFill>
                  <a:srgbClr val="F3F4F6"/>
                </a:solidFill>
                <a:latin typeface="Inter"/>
              </a:rPr>
              <a:t>BRUNA ARIEL DIAS GUARIGLIA: 103,8% (1.495 h).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D71920"/>
                </a:solidFill>
                <a:latin typeface="Inter"/>
              </a:rPr>
              <a:t>•  </a:t>
            </a:r>
            <a:r>
              <a:rPr sz="1400" b="0">
                <a:solidFill>
                  <a:srgbClr val="F3F4F6"/>
                </a:solidFill>
                <a:latin typeface="Inter"/>
              </a:rPr>
              <a:t>LEIDINA LAIS: 1.552 h no ano — maior volume, na própria área crítica.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D71920"/>
                </a:solidFill>
                <a:latin typeface="Inter"/>
              </a:rPr>
              <a:t>•  </a:t>
            </a:r>
            <a:r>
              <a:rPr sz="1400" b="1">
                <a:solidFill>
                  <a:srgbClr val="2E90FA"/>
                </a:solidFill>
                <a:latin typeface="Inter"/>
              </a:rPr>
              <a:t>Usar esses casos como referência de planejamento de carga.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960120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9264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3F4F6"/>
                </a:solidFill>
                <a:latin typeface="Inter"/>
              </a:rPr>
              <a:t>Visão 360° — heatmap instrutor × mês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A3AF"/>
                </a:solidFill>
                <a:latin typeface="Inter"/>
              </a:rPr>
              <a:t>Regência célula a célula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292608"/>
            <a:ext cx="137160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1">
                <a:solidFill>
                  <a:srgbClr val="D71920"/>
                </a:solidFill>
                <a:latin typeface="Inter"/>
              </a:rPr>
              <a:t>SENAI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6912864" cy="4937760"/>
          </a:xfrm>
          <a:prstGeom prst="rect">
            <a:avLst/>
          </a:prstGeom>
          <a:noFill/>
          <a:ln w="12700">
            <a:solidFill>
              <a:srgbClr val="2A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6912864" cy="4937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35240" y="1417320"/>
            <a:ext cx="4114800" cy="4937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D71920"/>
                </a:solidFill>
                <a:latin typeface="Inter"/>
              </a:rPr>
              <a:t>•  </a:t>
            </a:r>
            <a:r>
              <a:rPr sz="1400" b="0">
                <a:solidFill>
                  <a:srgbClr val="F3F4F6"/>
                </a:solidFill>
                <a:latin typeface="Inter"/>
              </a:rPr>
              <a:t>Cada célula = regência de um instrutor em um mês.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D71920"/>
                </a:solidFill>
                <a:latin typeface="Inter"/>
              </a:rPr>
              <a:t>•  </a:t>
            </a:r>
            <a:r>
              <a:rPr sz="1400" b="0">
                <a:solidFill>
                  <a:srgbClr val="F3F4F6"/>
                </a:solidFill>
                <a:latin typeface="Inter"/>
              </a:rPr>
              <a:t>Colunas fracas em JAN/JUL/DEZ: sazonalidade.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D71920"/>
                </a:solidFill>
                <a:latin typeface="Inter"/>
              </a:rPr>
              <a:t>•  </a:t>
            </a:r>
            <a:r>
              <a:rPr sz="1400" b="0">
                <a:solidFill>
                  <a:srgbClr val="F3F4F6"/>
                </a:solidFill>
                <a:latin typeface="Inter"/>
              </a:rPr>
              <a:t>Linhas persistentemente vermelhas: caso de gestão.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D71920"/>
                </a:solidFill>
                <a:latin typeface="Inter"/>
              </a:rPr>
              <a:t>•  </a:t>
            </a:r>
            <a:r>
              <a:rPr sz="1400" b="0">
                <a:solidFill>
                  <a:srgbClr val="F3F4F6"/>
                </a:solidFill>
                <a:latin typeface="Inter"/>
              </a:rPr>
              <a:t>Células vazias = mês sem lançamento (conferir preenchimento).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960120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9264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3F4F6"/>
                </a:solidFill>
                <a:latin typeface="Inter"/>
              </a:rPr>
              <a:t>Qualidade dos dados — o BI também audita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A3AF"/>
                </a:solidFill>
                <a:latin typeface="Inter"/>
              </a:rPr>
              <a:t>Falhas de preenchimento identificadas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292608"/>
            <a:ext cx="137160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1">
                <a:solidFill>
                  <a:srgbClr val="D71920"/>
                </a:solidFill>
                <a:latin typeface="Inter"/>
              </a:rPr>
              <a:t>SENAI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155680" cy="3840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D71920"/>
                </a:solidFill>
                <a:latin typeface="Inter"/>
              </a:rPr>
              <a:t>•  </a:t>
            </a:r>
            <a:r>
              <a:rPr sz="1600" b="0">
                <a:solidFill>
                  <a:srgbClr val="F3F4F6"/>
                </a:solidFill>
                <a:latin typeface="Inter"/>
              </a:rPr>
              <a:t>Nomes de área com erros de digitação: "Contrução Civil", "Grafica editorial", e o rótulo "(JD)".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D71920"/>
                </a:solidFill>
                <a:latin typeface="Inter"/>
              </a:rPr>
              <a:t>•  </a:t>
            </a:r>
            <a:r>
              <a:rPr sz="1600" b="0">
                <a:solidFill>
                  <a:srgbClr val="F3F4F6"/>
                </a:solidFill>
                <a:latin typeface="Inter"/>
              </a:rPr>
              <a:t>Instrutores com meses sem lançamento: CHRISTIAN TEILOR (7 meses), JOÃO VICTOR MARTINS (5 meses).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D71920"/>
                </a:solidFill>
                <a:latin typeface="Inter"/>
              </a:rPr>
              <a:t>•  </a:t>
            </a:r>
            <a:r>
              <a:rPr sz="1600" b="0">
                <a:solidFill>
                  <a:srgbClr val="F3F4F6"/>
                </a:solidFill>
                <a:latin typeface="Inter"/>
              </a:rPr>
              <a:t>1 instrutor sem total anual preenchido (THAUANA MACHADO).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D71920"/>
                </a:solidFill>
                <a:latin typeface="Inter"/>
              </a:rPr>
              <a:t>•  </a:t>
            </a:r>
            <a:r>
              <a:rPr sz="1600" b="0">
                <a:solidFill>
                  <a:srgbClr val="F3F4F6"/>
                </a:solidFill>
                <a:latin typeface="Inter"/>
              </a:rPr>
              <a:t>Coluna EXTRA-QUADRO zerada no quadro (ainda não utilizada).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D71920"/>
                </a:solidFill>
                <a:latin typeface="Inter"/>
              </a:rPr>
              <a:t>•  </a:t>
            </a:r>
            <a:r>
              <a:rPr sz="1600" b="0">
                <a:solidFill>
                  <a:srgbClr val="F3F4F6"/>
                </a:solidFill>
                <a:latin typeface="Inter"/>
              </a:rPr>
              <a:t>Dois totais divergentes: soma dos meses (37.306 h) vs coluna ANO (36.458 h).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663440"/>
            <a:ext cx="11155680" cy="41148"/>
          </a:xfrm>
          <a:prstGeom prst="rect">
            <a:avLst/>
          </a:prstGeom>
          <a:solidFill>
            <a:srgbClr val="2A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892040"/>
            <a:ext cx="1115568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E90FA"/>
                </a:solidFill>
                <a:latin typeface="Inter"/>
              </a:rPr>
              <a:t>Mensagem: corrigir a planilha-fonte é pré-requisito para os próximos ciclos do BI.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960120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9264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3F4F6"/>
                </a:solidFill>
                <a:latin typeface="Inter"/>
              </a:rPr>
              <a:t>Plano de ação proposto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CA3AF"/>
                </a:solidFill>
                <a:latin typeface="Inter"/>
              </a:rPr>
              <a:t>Fechamento com decisões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292608"/>
            <a:ext cx="137160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1">
                <a:solidFill>
                  <a:srgbClr val="D71920"/>
                </a:solidFill>
                <a:latin typeface="Inter"/>
              </a:rPr>
              <a:t>SENAI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155680" cy="4206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>
                <a:solidFill>
                  <a:srgbClr val="D71920"/>
                </a:solidFill>
                <a:latin typeface="Inter"/>
              </a:rPr>
              <a:t>•  </a:t>
            </a:r>
            <a:r>
              <a:rPr sz="1600" b="1">
                <a:solidFill>
                  <a:srgbClr val="F3F4F6"/>
                </a:solidFill>
                <a:latin typeface="Inter"/>
              </a:rPr>
              <a:t>1. Validar com a coordenação os casos de baixa regência (quem, por quê, o que fazer).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2E90FA"/>
                </a:solidFill>
                <a:latin typeface="Inter"/>
              </a:rPr>
              <a:t>   –  </a:t>
            </a:r>
            <a:r>
              <a:rPr sz="1600" b="0">
                <a:solidFill>
                  <a:srgbClr val="9CA3AF"/>
                </a:solidFill>
                <a:latin typeface="Inter"/>
              </a:rPr>
              <a:t>    · Prioridade: Manutenção automotiva (7 de 13 abaixo de 50%).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D71920"/>
                </a:solidFill>
                <a:latin typeface="Inter"/>
              </a:rPr>
              <a:t>•  </a:t>
            </a:r>
            <a:r>
              <a:rPr sz="1600" b="1">
                <a:solidFill>
                  <a:srgbClr val="F3F4F6"/>
                </a:solidFill>
                <a:latin typeface="Inter"/>
              </a:rPr>
              <a:t>2. Padronizar a planilha-fonte: nomes de área, totais anuais, lançamentos mensais completos.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2E90FA"/>
                </a:solidFill>
                <a:latin typeface="Inter"/>
              </a:rPr>
              <a:t>   –  </a:t>
            </a:r>
            <a:r>
              <a:rPr sz="1600" b="0">
                <a:solidFill>
                  <a:srgbClr val="9CA3AF"/>
                </a:solidFill>
                <a:latin typeface="Inter"/>
              </a:rPr>
              <a:t>    · Registrar POLO/LOCAL na planilha-fonte (ex.: polo "John Deere").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D71920"/>
                </a:solidFill>
                <a:latin typeface="Inter"/>
              </a:rPr>
              <a:t>•  </a:t>
            </a:r>
            <a:r>
              <a:rPr sz="1600" b="1">
                <a:solidFill>
                  <a:srgbClr val="F3F4F6"/>
                </a:solidFill>
                <a:latin typeface="Inter"/>
              </a:rPr>
              <a:t>3. Definir metas de regência por período (respeitando férias e sazonalidade).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D71920"/>
                </a:solidFill>
                <a:latin typeface="Inter"/>
              </a:rPr>
              <a:t>•  </a:t>
            </a:r>
            <a:r>
              <a:rPr sz="1600" b="1">
                <a:solidFill>
                  <a:srgbClr val="F3F4F6"/>
                </a:solidFill>
                <a:latin typeface="Inter"/>
              </a:rPr>
              <a:t>4. Acompanhamento mensal com o painel — reavaliar o mesmo indicador.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52160"/>
            <a:ext cx="11155680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D71920"/>
                </a:solidFill>
                <a:latin typeface="Inter"/>
              </a:rPr>
              <a:t>Dado vira informação, informação vira decisão.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