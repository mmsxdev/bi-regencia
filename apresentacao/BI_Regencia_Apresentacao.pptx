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0F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54864"/>
          </a:xfrm>
          <a:prstGeom prst="rect">
            <a:avLst/>
          </a:prstGeom>
          <a:solidFill>
            <a:srgbClr val="2A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2011680"/>
            <a:ext cx="1051560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9CA3AF"/>
                </a:solidFill>
                <a:latin typeface="Inter"/>
              </a:rPr>
              <a:t>SENAI · SERVIÇO NACIONAL DE APRENDIZAGEM INDUSTRIAL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542032"/>
            <a:ext cx="10698480" cy="11887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5200" b="1">
                <a:solidFill>
                  <a:srgbClr val="F3F4F6"/>
                </a:solidFill>
                <a:latin typeface="Inter"/>
              </a:rPr>
              <a:t>BI DE REGÊNCIA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46120"/>
            <a:ext cx="106984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200" b="0">
                <a:solidFill>
                  <a:srgbClr val="2E90FA"/>
                </a:solidFill>
                <a:latin typeface="Inter"/>
              </a:rPr>
              <a:t>Frequência dos instrutores em sala de aula — quadro 2026</a:t>
            </a:r>
          </a:p>
        </p:txBody>
      </p:sp>
      <p:sp>
        <p:nvSpPr>
          <p:cNvPr id="7" name="Rectangle 6"/>
          <p:cNvSpPr/>
          <p:nvPr/>
        </p:nvSpPr>
        <p:spPr>
          <a:xfrm>
            <a:off x="731520" y="4023360"/>
            <a:ext cx="4023360" cy="41148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4343400"/>
            <a:ext cx="106984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CA3AF"/>
                </a:solidFill>
                <a:latin typeface="Inter"/>
              </a:rPr>
              <a:t>Escola SENAI Vila Canaã · Departamento Regional de Goiás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00600"/>
            <a:ext cx="106984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6B7280"/>
                </a:solidFill>
                <a:latin typeface="Inter"/>
              </a:rPr>
              <a:t>Relatório de dados consolidados da planilha de regência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O que este painel entrega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Objetivo e proposito do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234440"/>
            <a:ext cx="11155680" cy="2926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40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•  </a:t>
            </a:r>
            <a:r>
              <a:rPr sz="1700" b="0">
                <a:solidFill>
                  <a:srgbClr val="F3F4F6"/>
                </a:solidFill>
                <a:latin typeface="Inter"/>
              </a:rPr>
              <a:t>Consolidar as horas-aula (regência) de todos os instrutores do quadro em um só painel.</a:t>
            </a:r>
          </a:p>
          <a:p>
            <a:pPr algn="l">
              <a:spcAft>
                <a:spcPts val="140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•  </a:t>
            </a:r>
            <a:r>
              <a:rPr sz="1700" b="0">
                <a:solidFill>
                  <a:srgbClr val="F3F4F6"/>
                </a:solidFill>
                <a:latin typeface="Inter"/>
              </a:rPr>
              <a:t>Responder 4 perguntas de gestão: quem ministra? quanto? cumpre a carga prevista? onde está o risco?</a:t>
            </a:r>
          </a:p>
          <a:p>
            <a:pPr algn="l">
              <a:spcAft>
                <a:spcPts val="140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•  </a:t>
            </a:r>
            <a:r>
              <a:rPr sz="1700" b="0">
                <a:solidFill>
                  <a:srgbClr val="F3F4F6"/>
                </a:solidFill>
                <a:latin typeface="Inter"/>
              </a:rPr>
              <a:t>Transformar a planilha de lançamentos, que já existe, em informação de gestão.</a:t>
            </a:r>
          </a:p>
          <a:p>
            <a:pPr algn="l">
              <a:spcAft>
                <a:spcPts val="140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•  </a:t>
            </a:r>
            <a:r>
              <a:rPr sz="1700" b="0">
                <a:solidFill>
                  <a:srgbClr val="F3F4F6"/>
                </a:solidFill>
                <a:latin typeface="Inter"/>
              </a:rPr>
              <a:t>Ficar sempre atualizado: conexão com a planilha no SharePoint/OneDrive + botão de atualização manual.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4160520"/>
            <a:ext cx="11155680" cy="41148"/>
          </a:xfrm>
          <a:prstGeom prst="rect">
            <a:avLst/>
          </a:prstGeom>
          <a:solidFill>
            <a:srgbClr val="2A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4389120"/>
            <a:ext cx="111556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F3F4F6"/>
                </a:solidFill>
                <a:latin typeface="Inter"/>
              </a:rPr>
              <a:t>Conceito-chave — Frequência: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4892040"/>
            <a:ext cx="11155680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1">
                <a:solidFill>
                  <a:srgbClr val="D71920"/>
                </a:solidFill>
                <a:latin typeface="Inter"/>
              </a:rPr>
              <a:t>•  </a:t>
            </a:r>
            <a:r>
              <a:rPr sz="1500" b="0">
                <a:solidFill>
                  <a:srgbClr val="F3F4F6"/>
                </a:solidFill>
                <a:latin typeface="Inter"/>
              </a:rPr>
              <a:t>Frequência (%) = horas-aula realizadas ÷ carga de regência esperada no mês.</a:t>
            </a:r>
          </a:p>
          <a:p>
            <a:pPr algn="l">
              <a:spcAft>
                <a:spcPts val="800"/>
              </a:spcAft>
            </a:pPr>
            <a:r>
              <a:rPr sz="1500" b="1">
                <a:solidFill>
                  <a:srgbClr val="D71920"/>
                </a:solidFill>
                <a:latin typeface="Inter"/>
              </a:rPr>
              <a:t>•  </a:t>
            </a:r>
            <a:r>
              <a:rPr sz="1500" b="0">
                <a:solidFill>
                  <a:srgbClr val="F3F4F6"/>
                </a:solidFill>
                <a:latin typeface="Inter"/>
              </a:rPr>
              <a:t>100% = cumprida a carga. Acima de 100% = ministrou acima do previsto. Abaixo de 50% = alerta.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Fonte dos dados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De onde vem a informação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188720"/>
            <a:ext cx="11155680" cy="2743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Aba "CONSOLIDADO " da planilha REGÊNCIA - INSTRUTORES DO QUADRO 2026.xlsx.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1 linha por instrutor com: DOCENTE, carga horária (Ch), ÁREA, H/AULA e % por mês, ANO, EXTRA-QUADRO.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O painel lê a planilha automaticamente e organiza em: Visão Geral, Por Instrutor, Por Mês e Tabela.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Atualização automática a cada 10 minutos + botão "Atualizar dados agora".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3246120"/>
            <a:ext cx="11155680" cy="41148"/>
          </a:xfrm>
          <a:prstGeom prst="rect">
            <a:avLst/>
          </a:prstGeom>
          <a:solidFill>
            <a:srgbClr val="2A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3474720"/>
            <a:ext cx="111556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1">
                <a:solidFill>
                  <a:srgbClr val="F3F4F6"/>
                </a:solidFill>
                <a:latin typeface="Inter"/>
              </a:rPr>
              <a:t>Atenção na leitura: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3931920"/>
            <a:ext cx="11155680" cy="2194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900"/>
              </a:spcAft>
            </a:pPr>
            <a:r>
              <a:rPr sz="1500" b="1">
                <a:solidFill>
                  <a:srgbClr val="D71920"/>
                </a:solidFill>
                <a:latin typeface="Inter"/>
              </a:rPr>
              <a:t>•  </a:t>
            </a:r>
            <a:r>
              <a:rPr sz="1500" b="0">
                <a:solidFill>
                  <a:srgbClr val="F3F4F6"/>
                </a:solidFill>
                <a:latin typeface="Inter"/>
              </a:rPr>
              <a:t>O n.º de instrutores com lançamento cresce ao longo do ano (37 em jan → 45 em ago): entradas em 2026.</a:t>
            </a:r>
          </a:p>
          <a:p>
            <a:pPr algn="l">
              <a:spcAft>
                <a:spcPts val="900"/>
              </a:spcAft>
            </a:pPr>
            <a:r>
              <a:rPr sz="1500" b="1">
                <a:solidFill>
                  <a:srgbClr val="D71920"/>
                </a:solidFill>
                <a:latin typeface="Inter"/>
              </a:rPr>
              <a:t>•  </a:t>
            </a:r>
            <a:r>
              <a:rPr sz="1500" b="0">
                <a:solidFill>
                  <a:srgbClr val="F3F4F6"/>
                </a:solidFill>
                <a:latin typeface="Inter"/>
              </a:rPr>
              <a:t>Existem dois totais no painel: soma dos meses (37.306 h) e coluna ANO (36.458 h) — conferir padrão na planilha.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Números-chave do quadro (2026)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Visão consolidada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502920" y="1371600"/>
            <a:ext cx="2651760" cy="2103120"/>
          </a:xfrm>
          <a:prstGeom prst="rect">
            <a:avLst/>
          </a:prstGeom>
          <a:solidFill>
            <a:srgbClr val="111827"/>
          </a:solidFill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02920" y="1371600"/>
            <a:ext cx="2651760" cy="64008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627632"/>
            <a:ext cx="2194560" cy="8229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3F4F6"/>
                </a:solidFill>
                <a:latin typeface="Inter"/>
              </a:rPr>
              <a:t>45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33172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CA3AF"/>
                </a:solidFill>
                <a:latin typeface="Inter"/>
              </a:rPr>
              <a:t>INSTRUTORES NO QUADRO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70048"/>
            <a:ext cx="219456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Cobertura completa desde agosto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1371600"/>
            <a:ext cx="2651760" cy="2103120"/>
          </a:xfrm>
          <a:prstGeom prst="rect">
            <a:avLst/>
          </a:prstGeom>
          <a:solidFill>
            <a:srgbClr val="111827"/>
          </a:solidFill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337560" y="1371600"/>
            <a:ext cx="2651760" cy="64008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66160" y="1627632"/>
            <a:ext cx="2194560" cy="8229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3F4F6"/>
                </a:solidFill>
                <a:latin typeface="Inter"/>
              </a:rPr>
              <a:t>61%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584448" y="1792224"/>
            <a:ext cx="164592" cy="164592"/>
          </a:xfrm>
          <a:prstGeom prst="rect">
            <a:avLst/>
          </a:prstGeom>
          <a:solidFill>
            <a:srgbClr val="A3E63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566160" y="233172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CA3AF"/>
                </a:solidFill>
                <a:latin typeface="Inter"/>
              </a:rPr>
              <a:t>FREQUÊNCIA MÉDIA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66160" y="2670048"/>
            <a:ext cx="219456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média das frequências mensais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1371600"/>
            <a:ext cx="2651760" cy="2103120"/>
          </a:xfrm>
          <a:prstGeom prst="rect">
            <a:avLst/>
          </a:prstGeom>
          <a:solidFill>
            <a:srgbClr val="111827"/>
          </a:solidFill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1371600"/>
            <a:ext cx="2651760" cy="64008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1627632"/>
            <a:ext cx="2194560" cy="8229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3F4F6"/>
                </a:solidFill>
                <a:latin typeface="Inter"/>
              </a:rPr>
              <a:t>37,3 mil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33172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CA3AF"/>
                </a:solidFill>
                <a:latin typeface="Inter"/>
              </a:rPr>
              <a:t>HORAS-AULA REALIZADAS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2670048"/>
            <a:ext cx="219456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soma dos 12 meses do período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006840" y="1371600"/>
            <a:ext cx="2651760" cy="2103120"/>
          </a:xfrm>
          <a:prstGeom prst="rect">
            <a:avLst/>
          </a:prstGeom>
          <a:solidFill>
            <a:srgbClr val="111827"/>
          </a:solidFill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9006840" y="1371600"/>
            <a:ext cx="2651760" cy="64008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0" y="1627632"/>
            <a:ext cx="2194560" cy="8229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3400" b="1">
                <a:solidFill>
                  <a:srgbClr val="F3F4F6"/>
                </a:solidFill>
                <a:latin typeface="Inter"/>
              </a:rPr>
              <a:t>12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9253728" y="1792224"/>
            <a:ext cx="164592" cy="164592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235440" y="2331720"/>
            <a:ext cx="219456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9CA3AF"/>
                </a:solidFill>
                <a:latin typeface="Inter"/>
              </a:rPr>
              <a:t>ABAIXO DE 50%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0" y="2670048"/>
            <a:ext cx="219456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100" b="0">
                <a:solidFill>
                  <a:srgbClr val="6B7280"/>
                </a:solidFill>
                <a:latin typeface="Inter"/>
              </a:rPr>
              <a:t>27% do quadro em zona de alerta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3840480"/>
            <a:ext cx="11155680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500" b="0">
                <a:solidFill>
                  <a:srgbClr val="9CA3AF"/>
                </a:solidFill>
                <a:latin typeface="Inter"/>
              </a:rPr>
              <a:t>Leitura: a média de 61% esconde realidades distintas — parte do quadro cumpre bem a carga, outra parte está em zona crítica.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4617720"/>
            <a:ext cx="11155680" cy="1645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8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16 instrutores entre 70% e 100% de frequência.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2 instrutores acima de 100% (ministram acima da carga prevista).</a:t>
            </a:r>
          </a:p>
          <a:p>
            <a:pPr algn="l">
              <a:spcAft>
                <a:spcPts val="8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15 instrutores entre 50% e 70% — área de atenção/monitoramento.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Sazonalidade — frequência por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Cair em julho não é risco, é calendário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675120" cy="3337560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s_frequencia_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675120" cy="3337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371600"/>
            <a:ext cx="4297680" cy="4572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Janeiro: 41% — início de ano / entrada de contratos.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Julho: 18% — férias escolares (recesso).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Dezembro: 37% — encerramento do ano.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Março a Setembro: 78–82% — período produtivo.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1">
                <a:solidFill>
                  <a:srgbClr val="2E90FA"/>
                </a:solidFill>
                <a:latin typeface="Inter"/>
              </a:rPr>
              <a:t>Meta única anual seria injusta: usar metas por período.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Volume de horas-aula por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Quando o quadro está mais ativo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675120" cy="3337560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mes_horas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675120" cy="33375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06640" y="1371600"/>
            <a:ext cx="4297680" cy="4572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Pico: agosto (4.403 h) e setembro (4.291 h).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Vale: julho (890 h), janeiro (1.757 h), dezembro (1.990 h).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Total do ano: ~37.306 horas-aula.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Essa curva orienta a alocação de carga e a necessidade de reforço do quadro.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Distribuição da frequência média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Onde o quadro se concentra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400800" cy="3982720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istribuicao_h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400800" cy="3982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23760" y="1417320"/>
            <a:ext cx="4572000" cy="4572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1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12 instrutores abaixo de 50% (alerta).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15 entre 50% e 70% (monitorar).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16 entre 70% e 100% (saudável).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2 acima de 100% (referência de desempenho).</a:t>
            </a:r>
          </a:p>
          <a:p>
            <a:pPr algn="l">
              <a:spcAft>
                <a:spcPts val="11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1">
                <a:solidFill>
                  <a:srgbClr val="D71920"/>
                </a:solidFill>
                <a:latin typeface="Inter"/>
              </a:rPr>
              <a:t>27% do quadro cumpre menos da metade da carga prevista.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Frequência média por área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Risco é concentrado, não está espalhado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949440" cy="3790603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rea_freq_b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3790603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417320"/>
            <a:ext cx="4114800" cy="4572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Gráfica editorial (11 instr.): 74,7%.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Alimentos e bebidas (6 instr.): 73,0%.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TI (5 instr.): 69,5%.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Manutenção automotiva (13 instr.): ~46%.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Administração (2 instr.): 44,1%.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1">
                <a:solidFill>
                  <a:srgbClr val="D71920"/>
                </a:solidFill>
                <a:latin typeface="Inter"/>
              </a:rPr>
              <a:t>Área crítica: Manutenção automotiva.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Pontos de atenção — menores frequências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Identificados por nome e área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949440" cy="3916957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strutores_men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39169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417320"/>
            <a:ext cx="4114800" cy="4572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Os 5 menores índices do quadro estão em Manutenção automotiva.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DIOGO DE SOUZA PIMENTEL: 10,8% (207 h no ano).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DINAIRON DA SILVA BORGES: 14,6% (280 h).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CAIO CEZAR BRAZ E SILVA: 22,1% (383 h).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Pergunta à coordenação: carga reduzida? afastamento? realocação?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1">
                <a:solidFill>
                  <a:srgbClr val="2E90FA"/>
                </a:solidFill>
                <a:latin typeface="Inter"/>
              </a:rPr>
              <a:t>O painel localiza quem e onde — a causa é decidida com a coordenação.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Manutenção automotiva — área única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O painel unifica; o polo vira filtro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766560" cy="4182964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automotiva_p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766560" cy="4182964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452360" y="1325880"/>
            <a:ext cx="4297680" cy="4937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900"/>
              </a:spcAft>
            </a:pPr>
            <a:r>
              <a:rPr sz="1300" b="1">
                <a:solidFill>
                  <a:srgbClr val="D71920"/>
                </a:solidFill>
                <a:latin typeface="Inter"/>
              </a:rPr>
              <a:t>•  </a:t>
            </a:r>
            <a:r>
              <a:rPr sz="1300" b="0">
                <a:solidFill>
                  <a:srgbClr val="F3F4F6"/>
                </a:solidFill>
                <a:latin typeface="Inter"/>
              </a:rPr>
              <a:t>As "Manutenção automotiva" e "(JD)" foram unificadas em UMA área: 13 instrutores.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D71920"/>
                </a:solidFill>
                <a:latin typeface="Inter"/>
              </a:rPr>
              <a:t>•  </a:t>
            </a:r>
            <a:r>
              <a:rPr sz="1300" b="0">
                <a:solidFill>
                  <a:srgbClr val="F3F4F6"/>
                </a:solidFill>
                <a:latin typeface="Inter"/>
              </a:rPr>
              <a:t>(JD) = rótulo interno do polo da escola parceira (Col. Est. Jardim Vila Boa / SEDUC) — confirmar com a coordenação.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D71920"/>
                </a:solidFill>
                <a:latin typeface="Inter"/>
              </a:rPr>
              <a:t>•  </a:t>
            </a:r>
            <a:r>
              <a:rPr sz="1300" b="0">
                <a:solidFill>
                  <a:srgbClr val="F3F4F6"/>
                </a:solidFill>
                <a:latin typeface="Inter"/>
              </a:rPr>
              <a:t>Frequência média da área: ~46% — 7 de 13 abaixo de 50%.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D71920"/>
                </a:solidFill>
                <a:latin typeface="Inter"/>
              </a:rPr>
              <a:t>•  </a:t>
            </a:r>
            <a:r>
              <a:rPr sz="1300" b="1">
                <a:solidFill>
                  <a:srgbClr val="2E90FA"/>
                </a:solidFill>
                <a:latin typeface="Inter"/>
              </a:rPr>
              <a:t>Novo filtro POLO/LOCAL: separa Vila Canaã × Jardim Vila Boa (SEDUC) sem fragmentar a área.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D71920"/>
                </a:solidFill>
                <a:latin typeface="Inter"/>
              </a:rPr>
              <a:t>•  </a:t>
            </a:r>
            <a:r>
              <a:rPr sz="1300" b="0">
                <a:solidFill>
                  <a:srgbClr val="F3F4F6"/>
                </a:solidFill>
                <a:latin typeface="Inter"/>
              </a:rPr>
              <a:t>O painel lê a coluna POLO/LOCAL da planilha, se existir; senão, infere pelo rótulo antigo.</a:t>
            </a:r>
          </a:p>
          <a:p>
            <a:pPr algn="l">
              <a:spcAft>
                <a:spcPts val="900"/>
              </a:spcAft>
            </a:pPr>
            <a:r>
              <a:rPr sz="1300" b="1">
                <a:solidFill>
                  <a:srgbClr val="D71920"/>
                </a:solidFill>
                <a:latin typeface="Inter"/>
              </a:rPr>
              <a:t>•  </a:t>
            </a:r>
            <a:r>
              <a:rPr sz="1300" b="0">
                <a:solidFill>
                  <a:srgbClr val="F3F4F6"/>
                </a:solidFill>
                <a:latin typeface="Inter"/>
              </a:rPr>
              <a:t>Recomendação: preencher POLO/LOCAL para todos os instrutores na planilha-fonte.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Destaques do quadro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Referências internas de alta frequência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949440" cy="3916957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instrutores_mai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49440" cy="391695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417320"/>
            <a:ext cx="4114800" cy="4572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ROMULO FLORIANO LIMEIRA: 109,5% — maior frequência (1.314 h).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BRUNA ARIEL DIAS GUARIGLIA: 103,8% (1.495 h).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LEIDINA LAIS: 1.552 h no ano — maior volume, na própria área crítica.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1">
                <a:solidFill>
                  <a:srgbClr val="2E90FA"/>
                </a:solidFill>
                <a:latin typeface="Inter"/>
              </a:rPr>
              <a:t>Usar esses casos como referência de planejamento de carga.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Visão 360° — heatmap instrutor × mês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Frequência célula a célula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1234440"/>
            <a:ext cx="6912864" cy="4937760"/>
          </a:xfrm>
          <a:prstGeom prst="rect">
            <a:avLst/>
          </a:prstGeom>
          <a:noFill/>
          <a:ln w="12700">
            <a:solidFill>
              <a:srgbClr val="2A303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34440"/>
            <a:ext cx="6912864" cy="49377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635240" y="1417320"/>
            <a:ext cx="4114800" cy="4937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Cada célula = frequência de um instrutor em um mês.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Colunas fracas em JAN/JUL/DEZ: sazonalidade.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Linhas persistentemente vermelhas: caso de gestão.</a:t>
            </a:r>
          </a:p>
          <a:p>
            <a:pPr algn="l">
              <a:spcAft>
                <a:spcPts val="1000"/>
              </a:spcAft>
            </a:pPr>
            <a:r>
              <a:rPr sz="1400" b="1">
                <a:solidFill>
                  <a:srgbClr val="D71920"/>
                </a:solidFill>
                <a:latin typeface="Inter"/>
              </a:rPr>
              <a:t>•  </a:t>
            </a:r>
            <a:r>
              <a:rPr sz="1400" b="0">
                <a:solidFill>
                  <a:srgbClr val="F3F4F6"/>
                </a:solidFill>
                <a:latin typeface="Inter"/>
              </a:rPr>
              <a:t>Células vazias = mês sem lançamento (conferir preenchimento).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Qualidade dos dados — o BI também audita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Falhas de preenchimento identificadas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3840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Nomes de área com erros de digitação: "Contrução Civil", "Grafica editorial", e o rótulo "(JD)".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Instrutores com meses sem lançamento: CHRISTIAN TEILOR (7 meses), JOÃO VICTOR MARTINS (5 meses).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1 instrutor sem total anual preenchido (THAUANA MACHADO).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Coluna EXTRA-QUADRO zerada no quadro (ainda não utilizada).</a:t>
            </a:r>
          </a:p>
          <a:p>
            <a:pPr algn="l">
              <a:spcAft>
                <a:spcPts val="12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0">
                <a:solidFill>
                  <a:srgbClr val="F3F4F6"/>
                </a:solidFill>
                <a:latin typeface="Inter"/>
              </a:rPr>
              <a:t>Dois totais divergentes: soma dos meses (37.306 h) vs coluna ANO (36.458 h).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4663440"/>
            <a:ext cx="11155680" cy="41148"/>
          </a:xfrm>
          <a:prstGeom prst="rect">
            <a:avLst/>
          </a:prstGeom>
          <a:solidFill>
            <a:srgbClr val="2A30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4892040"/>
            <a:ext cx="1115568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600" b="1">
                <a:solidFill>
                  <a:srgbClr val="2E90FA"/>
                </a:solidFill>
                <a:latin typeface="Inter"/>
              </a:rPr>
              <a:t>Mensagem: corrigir a planilha-fonte é pré-requisito para os próximos ciclos do BI.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F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1118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960120"/>
          </a:xfrm>
          <a:prstGeom prst="rect">
            <a:avLst/>
          </a:prstGeom>
          <a:solidFill>
            <a:srgbClr val="D719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11480" y="109728"/>
            <a:ext cx="9692640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800" b="1">
                <a:solidFill>
                  <a:srgbClr val="F3F4F6"/>
                </a:solidFill>
                <a:latin typeface="Inter"/>
              </a:rPr>
              <a:t>Plano de ação proposto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566928"/>
            <a:ext cx="1088136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0">
                <a:solidFill>
                  <a:srgbClr val="9CA3AF"/>
                </a:solidFill>
                <a:latin typeface="Inter"/>
              </a:rPr>
              <a:t>Fechamento com decisões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607040" y="292608"/>
            <a:ext cx="137160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spcAft>
                <a:spcPts val="0"/>
              </a:spcAft>
            </a:pPr>
            <a:r>
              <a:rPr sz="1700" b="1">
                <a:solidFill>
                  <a:srgbClr val="D71920"/>
                </a:solidFill>
                <a:latin typeface="Inter"/>
              </a:rPr>
              <a:t>SENAI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280160"/>
            <a:ext cx="11155680" cy="42062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1">
                <a:solidFill>
                  <a:srgbClr val="F3F4F6"/>
                </a:solidFill>
                <a:latin typeface="Inter"/>
              </a:rPr>
              <a:t>1. Validar com a coordenação os casos de baixa frequência (quem, por quê, o que fazer).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90FA"/>
                </a:solidFill>
                <a:latin typeface="Inter"/>
              </a:rPr>
              <a:t>   –  </a:t>
            </a:r>
            <a:r>
              <a:rPr sz="1600" b="0">
                <a:solidFill>
                  <a:srgbClr val="9CA3AF"/>
                </a:solidFill>
                <a:latin typeface="Inter"/>
              </a:rPr>
              <a:t>    · Prioridade: Manutenção automotiva (7 de 13 abaixo de 50%).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1">
                <a:solidFill>
                  <a:srgbClr val="F3F4F6"/>
                </a:solidFill>
                <a:latin typeface="Inter"/>
              </a:rPr>
              <a:t>2. Padronizar a planilha-fonte: nomes de área, totais anuais, lançamentos mensais completos.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E90FA"/>
                </a:solidFill>
                <a:latin typeface="Inter"/>
              </a:rPr>
              <a:t>   –  </a:t>
            </a:r>
            <a:r>
              <a:rPr sz="1600" b="0">
                <a:solidFill>
                  <a:srgbClr val="9CA3AF"/>
                </a:solidFill>
                <a:latin typeface="Inter"/>
              </a:rPr>
              <a:t>    · Definir hoje o que significa "(JD)" e criar campo POLO/LOCAL.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1">
                <a:solidFill>
                  <a:srgbClr val="F3F4F6"/>
                </a:solidFill>
                <a:latin typeface="Inter"/>
              </a:rPr>
              <a:t>3. Definir metas de frequência por período (respeitando férias e sazonalidade).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D71920"/>
                </a:solidFill>
                <a:latin typeface="Inter"/>
              </a:rPr>
              <a:t>•  </a:t>
            </a:r>
            <a:r>
              <a:rPr sz="1600" b="1">
                <a:solidFill>
                  <a:srgbClr val="F3F4F6"/>
                </a:solidFill>
                <a:latin typeface="Inter"/>
              </a:rPr>
              <a:t>4. Acompanhamento mensal com o painel — reavaliar o mesmo indicador.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5852160"/>
            <a:ext cx="11155680" cy="6400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spcAft>
                <a:spcPts val="0"/>
              </a:spcAft>
            </a:pPr>
            <a:r>
              <a:rPr sz="2000" b="1">
                <a:solidFill>
                  <a:srgbClr val="D71920"/>
                </a:solidFill>
                <a:latin typeface="Inter"/>
              </a:rPr>
              <a:t>Dado vira informação, informação vira decisão.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